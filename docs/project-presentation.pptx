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T Interphases" charset="1" panose="02000503020000020004"/>
      <p:regular r:id="rId14"/>
    </p:embeddedFont>
    <p:embeddedFont>
      <p:font typeface="TT Interphases Bold" charset="1" panose="0200080306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88068" y="1028700"/>
            <a:ext cx="7571232" cy="8229600"/>
          </a:xfrm>
          <a:custGeom>
            <a:avLst/>
            <a:gdLst/>
            <a:ahLst/>
            <a:cxnLst/>
            <a:rect r="r" b="b" t="t" l="l"/>
            <a:pathLst>
              <a:path h="8229600" w="7571232">
                <a:moveTo>
                  <a:pt x="0" y="0"/>
                </a:moveTo>
                <a:lnTo>
                  <a:pt x="7571232" y="0"/>
                </a:lnTo>
                <a:lnTo>
                  <a:pt x="75712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33665" y="3774598"/>
            <a:ext cx="6790112" cy="284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30"/>
              </a:lnSpc>
            </a:pPr>
            <a:r>
              <a:rPr lang="en-US" sz="12334" spc="-60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Big </a:t>
            </a:r>
          </a:p>
          <a:p>
            <a:pPr algn="l">
              <a:lnSpc>
                <a:spcPts val="10730"/>
              </a:lnSpc>
            </a:pPr>
            <a:r>
              <a:rPr lang="en-US" sz="12334" spc="-60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9296" y="3138067"/>
            <a:ext cx="1543050" cy="1543050"/>
          </a:xfrm>
          <a:custGeom>
            <a:avLst/>
            <a:gdLst/>
            <a:ahLst/>
            <a:cxnLst/>
            <a:rect r="r" b="b" t="t" l="l"/>
            <a:pathLst>
              <a:path h="1543050" w="1543050">
                <a:moveTo>
                  <a:pt x="0" y="0"/>
                </a:moveTo>
                <a:lnTo>
                  <a:pt x="1543050" y="0"/>
                </a:lnTo>
                <a:lnTo>
                  <a:pt x="154305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245076"/>
            <a:ext cx="7548480" cy="7013224"/>
          </a:xfrm>
          <a:custGeom>
            <a:avLst/>
            <a:gdLst/>
            <a:ahLst/>
            <a:cxnLst/>
            <a:rect r="r" b="b" t="t" l="l"/>
            <a:pathLst>
              <a:path h="7013224" w="7548480">
                <a:moveTo>
                  <a:pt x="0" y="0"/>
                </a:moveTo>
                <a:lnTo>
                  <a:pt x="7548480" y="0"/>
                </a:lnTo>
                <a:lnTo>
                  <a:pt x="7548480" y="7013224"/>
                </a:lnTo>
                <a:lnTo>
                  <a:pt x="0" y="70132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035449" y="1028700"/>
            <a:ext cx="1223851" cy="847795"/>
          </a:xfrm>
          <a:custGeom>
            <a:avLst/>
            <a:gdLst/>
            <a:ahLst/>
            <a:cxnLst/>
            <a:rect r="r" b="b" t="t" l="l"/>
            <a:pathLst>
              <a:path h="847795" w="1223851">
                <a:moveTo>
                  <a:pt x="1223851" y="0"/>
                </a:moveTo>
                <a:lnTo>
                  <a:pt x="0" y="0"/>
                </a:lnTo>
                <a:lnTo>
                  <a:pt x="0" y="847795"/>
                </a:lnTo>
                <a:lnTo>
                  <a:pt x="1223851" y="847795"/>
                </a:lnTo>
                <a:lnTo>
                  <a:pt x="12238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158528" y="2162245"/>
            <a:ext cx="6234058" cy="202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6219" y="1108262"/>
            <a:ext cx="2033411" cy="25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2100" spc="-10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Borcelle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58528" y="4487576"/>
            <a:ext cx="8035706" cy="455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91"/>
              </a:lnSpc>
            </a:pPr>
            <a:r>
              <a:rPr lang="en-US" sz="2699" spc="-5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Bu çalışmada iki farklı uygulama gerçekleştirilmiştir</a:t>
            </a:r>
          </a:p>
          <a:p>
            <a:pPr algn="just">
              <a:lnSpc>
                <a:spcPts val="2591"/>
              </a:lnSpc>
            </a:pPr>
          </a:p>
          <a:p>
            <a:pPr algn="just">
              <a:lnSpc>
                <a:spcPts val="2591"/>
              </a:lnSpc>
            </a:pPr>
            <a:r>
              <a:rPr lang="en-US" sz="2699" spc="-5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Yapılandırılmamış metin verileri ile modelleme</a:t>
            </a:r>
          </a:p>
          <a:p>
            <a:pPr algn="just">
              <a:lnSpc>
                <a:spcPts val="2591"/>
              </a:lnSpc>
            </a:pPr>
          </a:p>
          <a:p>
            <a:pPr algn="just">
              <a:lnSpc>
                <a:spcPts val="2591"/>
              </a:lnSpc>
            </a:pPr>
            <a:r>
              <a:rPr lang="en-US" sz="2699" spc="-5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 kullanılarak metin analizi süreci</a:t>
            </a:r>
          </a:p>
          <a:p>
            <a:pPr algn="just">
              <a:lnSpc>
                <a:spcPts val="2591"/>
              </a:lnSpc>
            </a:pPr>
          </a:p>
          <a:p>
            <a:pPr algn="just">
              <a:lnSpc>
                <a:spcPts val="2591"/>
              </a:lnSpc>
            </a:pPr>
            <a:r>
              <a:rPr lang="en-US" sz="2699" spc="-5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Python kullanılarak Twitter verilerinin modellenmesi</a:t>
            </a:r>
          </a:p>
          <a:p>
            <a:pPr algn="just">
              <a:lnSpc>
                <a:spcPts val="2591"/>
              </a:lnSpc>
            </a:pPr>
          </a:p>
          <a:p>
            <a:pPr algn="just">
              <a:lnSpc>
                <a:spcPts val="2591"/>
              </a:lnSpc>
            </a:pPr>
            <a:r>
              <a:rPr lang="en-US" sz="2699" spc="-5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Veri alma, temizleme, görselleştirme ve model iyileştirme adımları</a:t>
            </a:r>
          </a:p>
          <a:p>
            <a:pPr algn="just">
              <a:lnSpc>
                <a:spcPts val="2591"/>
              </a:lnSpc>
            </a:pPr>
          </a:p>
          <a:p>
            <a:pPr algn="just">
              <a:lnSpc>
                <a:spcPts val="2591"/>
              </a:lnSpc>
            </a:pPr>
            <a:r>
              <a:rPr lang="en-US" sz="2699" spc="-5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Çalışma, unstructured text data üzerinde analiz ve modelleme süreçlerini kapsamaktadır.</a:t>
            </a:r>
          </a:p>
          <a:p>
            <a:pPr algn="just">
              <a:lnSpc>
                <a:spcPts val="259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29974" y="3147267"/>
            <a:ext cx="6629326" cy="6111033"/>
          </a:xfrm>
          <a:custGeom>
            <a:avLst/>
            <a:gdLst/>
            <a:ahLst/>
            <a:cxnLst/>
            <a:rect r="r" b="b" t="t" l="l"/>
            <a:pathLst>
              <a:path h="6111033" w="6629326">
                <a:moveTo>
                  <a:pt x="0" y="0"/>
                </a:moveTo>
                <a:lnTo>
                  <a:pt x="6629326" y="0"/>
                </a:lnTo>
                <a:lnTo>
                  <a:pt x="6629326" y="6111033"/>
                </a:lnTo>
                <a:lnTo>
                  <a:pt x="0" y="6111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2130731" y="-184836"/>
            <a:ext cx="969594" cy="3396666"/>
          </a:xfrm>
          <a:custGeom>
            <a:avLst/>
            <a:gdLst/>
            <a:ahLst/>
            <a:cxnLst/>
            <a:rect r="r" b="b" t="t" l="l"/>
            <a:pathLst>
              <a:path h="3396666" w="969594">
                <a:moveTo>
                  <a:pt x="0" y="0"/>
                </a:moveTo>
                <a:lnTo>
                  <a:pt x="969594" y="0"/>
                </a:lnTo>
                <a:lnTo>
                  <a:pt x="969594" y="3396666"/>
                </a:lnTo>
                <a:lnTo>
                  <a:pt x="0" y="3396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734845"/>
            <a:ext cx="9601274" cy="202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Çalışmanın Amacı ve Hedefleri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6219" y="1108262"/>
            <a:ext cx="2033411" cy="25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2100" spc="-10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Borcelle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86350"/>
            <a:ext cx="9417868" cy="33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0092" indent="-295046" lvl="1">
              <a:lnSpc>
                <a:spcPts val="3826"/>
              </a:lnSpc>
              <a:buFont typeface="Arial"/>
              <a:buChar char="•"/>
            </a:pPr>
            <a:r>
              <a:rPr lang="en-US" sz="2733" spc="-13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Yapılandırılmamış metin verileriyle çalışma mantığını öğrenmek</a:t>
            </a:r>
          </a:p>
          <a:p>
            <a:pPr algn="l" marL="590092" indent="-295046" lvl="1">
              <a:lnSpc>
                <a:spcPts val="3826"/>
              </a:lnSpc>
              <a:buFont typeface="Arial"/>
              <a:buChar char="•"/>
            </a:pPr>
            <a:r>
              <a:rPr lang="en-US" sz="2733" spc="-13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Metin verisinin analiz için nasıl hazırlandığını görmek</a:t>
            </a:r>
          </a:p>
          <a:p>
            <a:pPr algn="l" marL="590092" indent="-295046" lvl="1">
              <a:lnSpc>
                <a:spcPts val="3826"/>
              </a:lnSpc>
              <a:buFont typeface="Arial"/>
              <a:buChar char="•"/>
            </a:pPr>
            <a:r>
              <a:rPr lang="en-US" sz="2733" spc="-13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Twitter verileri üzerinden modelleme uygulamak</a:t>
            </a:r>
          </a:p>
          <a:p>
            <a:pPr algn="l" marL="590092" indent="-295046" lvl="1">
              <a:lnSpc>
                <a:spcPts val="3826"/>
              </a:lnSpc>
              <a:buFont typeface="Arial"/>
              <a:buChar char="•"/>
            </a:pPr>
            <a:r>
              <a:rPr lang="en-US" sz="2733" spc="-13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 ve Python ile metin analizi becerisi kazanmak</a:t>
            </a:r>
          </a:p>
          <a:p>
            <a:pPr algn="l" marL="590092" indent="-295046" lvl="1">
              <a:lnSpc>
                <a:spcPts val="3826"/>
              </a:lnSpc>
              <a:buFont typeface="Arial"/>
              <a:buChar char="•"/>
            </a:pPr>
            <a:r>
              <a:rPr lang="en-US" sz="2733" spc="-13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Amaç, metin tabanlı büyük veriden anlamlı sonuçlar elde etmektir</a:t>
            </a:r>
          </a:p>
          <a:p>
            <a:pPr algn="l">
              <a:lnSpc>
                <a:spcPts val="382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506416"/>
            <a:ext cx="6730928" cy="5751884"/>
          </a:xfrm>
          <a:custGeom>
            <a:avLst/>
            <a:gdLst/>
            <a:ahLst/>
            <a:cxnLst/>
            <a:rect r="r" b="b" t="t" l="l"/>
            <a:pathLst>
              <a:path h="5751884" w="6730928">
                <a:moveTo>
                  <a:pt x="0" y="0"/>
                </a:moveTo>
                <a:lnTo>
                  <a:pt x="6730928" y="0"/>
                </a:lnTo>
                <a:lnTo>
                  <a:pt x="6730928" y="5751884"/>
                </a:lnTo>
                <a:lnTo>
                  <a:pt x="0" y="57518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80462" y="4422237"/>
            <a:ext cx="729305" cy="566206"/>
          </a:xfrm>
          <a:custGeom>
            <a:avLst/>
            <a:gdLst/>
            <a:ahLst/>
            <a:cxnLst/>
            <a:rect r="r" b="b" t="t" l="l"/>
            <a:pathLst>
              <a:path h="566206" w="729305">
                <a:moveTo>
                  <a:pt x="0" y="0"/>
                </a:moveTo>
                <a:lnTo>
                  <a:pt x="729305" y="0"/>
                </a:lnTo>
                <a:lnTo>
                  <a:pt x="729305" y="566207"/>
                </a:lnTo>
                <a:lnTo>
                  <a:pt x="0" y="5662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70894" y="1035790"/>
            <a:ext cx="8678724" cy="299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Kullanılan Teknolojiler ve Yazılım Araçları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6219" y="1108262"/>
            <a:ext cx="2033411" cy="25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2100" spc="-10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Borcelle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12445" y="6334733"/>
            <a:ext cx="3485330" cy="272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Metin analizi (Text mining)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Data ingestion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Data cleaning &amp; transformation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Data visualisation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Model improvement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667710" y="5739482"/>
            <a:ext cx="28366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 spc="-117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73970" y="5739482"/>
            <a:ext cx="28366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-117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Python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25240" y="6334733"/>
            <a:ext cx="3485330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Twitter feed analizi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Metin temizleme ve v</a:t>
            </a:r>
            <a:r>
              <a:rPr lang="en-US" sz="2199" spc="-10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eri işleme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Özellik çıkarımı (TF-IDF)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pc="-10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Naive Bayes ile m</a:t>
            </a:r>
            <a:r>
              <a:rPr lang="en-US" sz="2199" spc="-10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odelleme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0">
            <a:off x="16822619" y="1028700"/>
            <a:ext cx="436681" cy="339023"/>
          </a:xfrm>
          <a:custGeom>
            <a:avLst/>
            <a:gdLst/>
            <a:ahLst/>
            <a:cxnLst/>
            <a:rect r="r" b="b" t="t" l="l"/>
            <a:pathLst>
              <a:path h="339023" w="436681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82925" y="1938011"/>
            <a:ext cx="7434401" cy="4636363"/>
          </a:xfrm>
          <a:custGeom>
            <a:avLst/>
            <a:gdLst/>
            <a:ahLst/>
            <a:cxnLst/>
            <a:rect r="r" b="b" t="t" l="l"/>
            <a:pathLst>
              <a:path h="4636363" w="7434401">
                <a:moveTo>
                  <a:pt x="0" y="0"/>
                </a:moveTo>
                <a:lnTo>
                  <a:pt x="7434401" y="0"/>
                </a:lnTo>
                <a:lnTo>
                  <a:pt x="7434401" y="4636363"/>
                </a:lnTo>
                <a:lnTo>
                  <a:pt x="0" y="4636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63165" y="6355744"/>
            <a:ext cx="735454" cy="437261"/>
          </a:xfrm>
          <a:custGeom>
            <a:avLst/>
            <a:gdLst/>
            <a:ahLst/>
            <a:cxnLst/>
            <a:rect r="r" b="b" t="t" l="l"/>
            <a:pathLst>
              <a:path h="437261" w="735454">
                <a:moveTo>
                  <a:pt x="0" y="0"/>
                </a:moveTo>
                <a:lnTo>
                  <a:pt x="735454" y="0"/>
                </a:lnTo>
                <a:lnTo>
                  <a:pt x="735454" y="437261"/>
                </a:lnTo>
                <a:lnTo>
                  <a:pt x="0" y="437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430412"/>
            <a:ext cx="8553176" cy="202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Elde Edilen Sonuçlar ve Çıktılar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6219" y="1108262"/>
            <a:ext cx="2033411" cy="25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2100" spc="-10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Borcelle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0675" y="1332985"/>
            <a:ext cx="7338065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-14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Çalışma sonucunda elde edilen çıktılar: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spc="-14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Temizlenmiş ve dönüştürülmüş metin verileri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spc="-14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Metin frekansları ve görselleştirmeler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spc="-14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Twitter verileri üzerinden an</a:t>
            </a:r>
            <a:r>
              <a:rPr lang="en-US" sz="2999" spc="-14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aliz sonuçları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 spc="-14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Modellerin iyileştirilmiş çıktıları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0135" y="1887311"/>
            <a:ext cx="6345695" cy="4095858"/>
          </a:xfrm>
          <a:custGeom>
            <a:avLst/>
            <a:gdLst/>
            <a:ahLst/>
            <a:cxnLst/>
            <a:rect r="r" b="b" t="t" l="l"/>
            <a:pathLst>
              <a:path h="4095858" w="6345695">
                <a:moveTo>
                  <a:pt x="0" y="0"/>
                </a:moveTo>
                <a:lnTo>
                  <a:pt x="6345695" y="0"/>
                </a:lnTo>
                <a:lnTo>
                  <a:pt x="6345695" y="4095858"/>
                </a:lnTo>
                <a:lnTo>
                  <a:pt x="0" y="4095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8386" y="6606302"/>
            <a:ext cx="9972270" cy="396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Gelecekte Eklenebilecek Teknolojiler</a:t>
            </a:r>
          </a:p>
          <a:p>
            <a:pPr algn="l">
              <a:lnSpc>
                <a:spcPts val="765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66219" y="1108262"/>
            <a:ext cx="2033411" cy="25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2100" spc="-10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Borcelle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76781" y="2064607"/>
            <a:ext cx="10011219" cy="3684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</a:pPr>
            <a:r>
              <a:rPr lang="en-US" sz="3046" spc="-14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Çalışma geliştirilecek olursa:</a:t>
            </a:r>
          </a:p>
          <a:p>
            <a:pPr algn="l" marL="657797" indent="-328898" lvl="1">
              <a:lnSpc>
                <a:spcPts val="4265"/>
              </a:lnSpc>
              <a:buFont typeface="Arial"/>
              <a:buChar char="•"/>
            </a:pPr>
            <a:r>
              <a:rPr lang="en-US" sz="3046" spc="-14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Daha büyük Twitter veri setleri kullanılması</a:t>
            </a:r>
          </a:p>
          <a:p>
            <a:pPr algn="l" marL="657797" indent="-328898" lvl="1">
              <a:lnSpc>
                <a:spcPts val="4265"/>
              </a:lnSpc>
              <a:buFont typeface="Arial"/>
              <a:buChar char="•"/>
            </a:pPr>
            <a:r>
              <a:rPr lang="en-US" sz="3046" spc="-14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Gerçek Twitter API entegrasyonu</a:t>
            </a:r>
          </a:p>
          <a:p>
            <a:pPr algn="l" marL="657797" indent="-328898" lvl="1">
              <a:lnSpc>
                <a:spcPts val="4265"/>
              </a:lnSpc>
              <a:buFont typeface="Arial"/>
              <a:buChar char="•"/>
            </a:pPr>
            <a:r>
              <a:rPr lang="en-US" sz="3046" spc="-14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Farklı modellerin karşılaştırılması (SVM, Logistic Regression)</a:t>
            </a:r>
          </a:p>
          <a:p>
            <a:pPr algn="l" marL="657797" indent="-328898" lvl="1">
              <a:lnSpc>
                <a:spcPts val="4265"/>
              </a:lnSpc>
              <a:buFont typeface="Arial"/>
              <a:buChar char="•"/>
            </a:pPr>
            <a:r>
              <a:rPr lang="en-US" sz="3046" spc="-14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Daha detaylı görselleştirmeler</a:t>
            </a:r>
          </a:p>
          <a:p>
            <a:pPr algn="l" marL="657797" indent="-328898" lvl="1">
              <a:lnSpc>
                <a:spcPts val="4265"/>
              </a:lnSpc>
              <a:buFont typeface="Arial"/>
              <a:buChar char="•"/>
            </a:pPr>
            <a:r>
              <a:rPr lang="en-US" sz="3046" spc="-14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</a:t>
            </a:r>
            <a:r>
              <a:rPr lang="en-US" sz="3046" spc="-14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odel doğruluğunun artırılması</a:t>
            </a:r>
          </a:p>
          <a:p>
            <a:pPr algn="l">
              <a:lnSpc>
                <a:spcPts val="426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89314"/>
            <a:ext cx="18288000" cy="10376314"/>
          </a:xfrm>
          <a:custGeom>
            <a:avLst/>
            <a:gdLst/>
            <a:ahLst/>
            <a:cxnLst/>
            <a:rect r="r" b="b" t="t" l="l"/>
            <a:pathLst>
              <a:path h="10376314" w="18288000">
                <a:moveTo>
                  <a:pt x="0" y="0"/>
                </a:moveTo>
                <a:lnTo>
                  <a:pt x="18288000" y="0"/>
                </a:lnTo>
                <a:lnTo>
                  <a:pt x="18288000" y="10376314"/>
                </a:lnTo>
                <a:lnTo>
                  <a:pt x="0" y="103763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13" r="0" b="-2213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99665" y="1028700"/>
            <a:ext cx="8259635" cy="8229600"/>
          </a:xfrm>
          <a:custGeom>
            <a:avLst/>
            <a:gdLst/>
            <a:ahLst/>
            <a:cxnLst/>
            <a:rect r="r" b="b" t="t" l="l"/>
            <a:pathLst>
              <a:path h="8229600" w="8259635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7718033"/>
            <a:ext cx="228600" cy="228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986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4000357"/>
            <a:ext cx="8332616" cy="174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24"/>
              </a:lnSpc>
            </a:pPr>
            <a:r>
              <a:rPr lang="en-US" sz="14395" spc="-70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6219" y="1108262"/>
            <a:ext cx="2033411" cy="25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2100" spc="-10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Borcelle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6219" y="7708508"/>
            <a:ext cx="2411694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700" spc="-5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+123-456-7890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6219" y="8991981"/>
            <a:ext cx="3011896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700" spc="-5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www.reallygreatsite.com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6219" y="8350245"/>
            <a:ext cx="2790756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700" spc="-5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hello@reallygreatsite.com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8373867"/>
            <a:ext cx="228600" cy="2286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79E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9029700"/>
            <a:ext cx="228600" cy="22860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DAG8Dk3gLRs</dc:identifier>
  <dcterms:modified xsi:type="dcterms:W3CDTF">2011-08-01T06:04:30Z</dcterms:modified>
  <cp:revision>1</cp:revision>
  <dc:title>Green and White Simple Illustrative Data Analytics Presentation</dc:title>
</cp:coreProperties>
</file>